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8" r:id="rId11"/>
    <p:sldId id="269" r:id="rId12"/>
    <p:sldId id="264" r:id="rId13"/>
    <p:sldId id="265" r:id="rId14"/>
    <p:sldId id="266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280160" cy="16459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777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PhishGuard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Calibri"/>
              </a:rPr>
              <a:t>Yapay Zeka Destekli Phishing Tespit Sistemi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423160"/>
            <a:ext cx="7772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2606040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B0C4D8"/>
                </a:solidFill>
                <a:latin typeface="Calibri"/>
              </a:rPr>
              <a:t> (S3): </a:t>
            </a:r>
            <a:r>
              <a:rPr sz="1700" b="0" i="0" dirty="0" err="1">
                <a:solidFill>
                  <a:srgbClr val="B0C4D8"/>
                </a:solidFill>
                <a:latin typeface="Calibri"/>
              </a:rPr>
              <a:t>Modelleme</a:t>
            </a:r>
            <a:r>
              <a:rPr sz="1700" b="0" i="0" dirty="0">
                <a:solidFill>
                  <a:srgbClr val="B0C4D8"/>
                </a:solidFill>
                <a:latin typeface="Calibri"/>
              </a:rPr>
              <a:t> &amp; </a:t>
            </a:r>
            <a:r>
              <a:rPr sz="1700" b="0" i="0" dirty="0" err="1">
                <a:solidFill>
                  <a:srgbClr val="B0C4D8"/>
                </a:solidFill>
                <a:latin typeface="Calibri"/>
              </a:rPr>
              <a:t>Akış</a:t>
            </a:r>
            <a:r>
              <a:rPr sz="1700" b="0" i="0" dirty="0">
                <a:solidFill>
                  <a:srgbClr val="B0C4D8"/>
                </a:solidFill>
                <a:latin typeface="Calibri"/>
              </a:rPr>
              <a:t>   |   (S4): SRS, </a:t>
            </a:r>
            <a:r>
              <a:rPr sz="1700" b="0" i="0" dirty="0" err="1">
                <a:solidFill>
                  <a:srgbClr val="B0C4D8"/>
                </a:solidFill>
                <a:latin typeface="Calibri"/>
              </a:rPr>
              <a:t>İzlenebilirlik</a:t>
            </a:r>
            <a:r>
              <a:rPr sz="1700" b="0" i="0" dirty="0">
                <a:solidFill>
                  <a:srgbClr val="B0C4D8"/>
                </a:solidFill>
                <a:latin typeface="Calibri"/>
              </a:rPr>
              <a:t>, Test </a:t>
            </a:r>
            <a:r>
              <a:rPr sz="1700" b="0" i="0" dirty="0" err="1">
                <a:solidFill>
                  <a:srgbClr val="B0C4D8"/>
                </a:solidFill>
                <a:latin typeface="Calibri"/>
              </a:rPr>
              <a:t>Planı</a:t>
            </a:r>
            <a:endParaRPr sz="1700" b="0" i="0" dirty="0">
              <a:solidFill>
                <a:srgbClr val="B0C4D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1168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Fırat Üniversitesi — Yazılım Mühendisliği Bölümü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2651760" cy="15544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27939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Zelal Ergin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36592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Scrum Master
URL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4160520"/>
            <a:ext cx="2651760" cy="15544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0128" y="4160520"/>
            <a:ext cx="2651760" cy="5486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9856" y="427939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Mehmet Polat Maç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4736592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Web Crawler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4160520"/>
            <a:ext cx="2651760" cy="15544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3056" y="4160520"/>
            <a:ext cx="265176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27939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Muhammed Kayra Doğan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736592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NLP / Text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5984" y="4160520"/>
            <a:ext cx="2651760" cy="15544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15984" y="4160520"/>
            <a:ext cx="2651760" cy="54864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4279392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Meryem Tekeli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1" y="4736592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ML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0" y="6693408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YMH112 LAB — 3. &amp; 4. Hafta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Modelleme ve 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71323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Use Case • Wireframe • Veri/Nesne Modeli • Kısıtlar &amp; Riskler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834640" cy="50292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28346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5087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Use Case / Senaryo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6888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Normal senaryo: Kullanıcı URL analiz eder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0175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İstisna: Cloudflare engeli →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661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Hata: Geçersiz URL veya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371600"/>
            <a:ext cx="2834640" cy="50292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20440" y="1371600"/>
            <a:ext cx="283464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30168" y="15087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  <a:latin typeface="Calibri"/>
              </a:rPr>
              <a:t>Arayüz / Akış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46888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Ana ekran wireframe'i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0175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Risk sonuç ekranı akışı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35661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Web API → Frontend veri akışı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371600"/>
            <a:ext cx="2834640" cy="50292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0" y="1371600"/>
            <a:ext cx="283464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8" y="15087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Calibri"/>
              </a:rPr>
              <a:t>Veri/Nesne Modeli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246888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ER diyagramı: URL, Feature,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0175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Class modeli: Crawler, MLModel, APIResponse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5661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Temel varlıklar tanımlandı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371600"/>
            <a:ext cx="2834640" cy="50292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18320" y="1371600"/>
            <a:ext cx="283464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28048" y="15087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5A"/>
                </a:solidFill>
                <a:latin typeface="Calibri"/>
              </a:rPr>
              <a:t>Kısıtlar &amp; Riskler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46888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Zaman: JS render sitelerde gecikme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301752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Etik: GDPR / mahremiyet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3566160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Teknik: Cloudflare rate-limit riski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09360"/>
            <a:ext cx="11274552" cy="38404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Senaryo Akışları — 3 Temel Senaryo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645920" cy="41148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645920" cy="54864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48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A3"/>
                </a:solidFill>
                <a:latin typeface="Calibri"/>
              </a:rPr>
              <a:t>Kullanıcı
(Aktör)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143000"/>
            <a:ext cx="9509760" cy="53035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PhishGuard AI Sistemi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627632"/>
            <a:ext cx="2926080" cy="44805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" y="1627632"/>
            <a:ext cx="292608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1719072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alibri"/>
              </a:rPr>
              <a:t>Normal Senaryo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26771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1. Kullanıcı şüpheli URL'yi girer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852928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2. Sistem URL'yi crawl eder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38144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3. ML modeli + NLP skoru hesaplar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023360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4. Risk sonucu JSON olarak döner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608576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5. Kullanıcı sonucu görüntüler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1627632"/>
            <a:ext cx="2926080" cy="44805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0" y="1627632"/>
            <a:ext cx="292608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0" y="1719072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Calibri"/>
              </a:rPr>
              <a:t>İstisna Senaryosu 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26771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1. Cloudflare korumalı site tespit edilir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852928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2. Cloudflare API devreye girer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438144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3. JS render ile içerik çekilir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023360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4. BeautifulSoup fallback hazır bekler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608576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5. Analiz normal akışa döner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627632"/>
            <a:ext cx="2926080" cy="44805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95360" y="1627632"/>
            <a:ext cx="292608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0" y="1719072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5A"/>
                </a:solidFill>
                <a:latin typeface="Calibri"/>
              </a:rPr>
              <a:t>Hata Senaryosu 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267712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1. Geçersiz URL / bozuk format girilir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852928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2. Timeout (&gt;30 sn) oluşur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438144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3. HTTP 4xx / 5xx yanıtı alınır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023360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4. Sistem hata mesajı üretir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608576"/>
            <a:ext cx="2761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5. Kullanıcıya açıklayıcı uyarı verilir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MİMARİ &amp; AKIŞ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Sistem Mimarisi &amp; Wireframe Akışı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01168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155448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214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Kullanıcı
URL Girer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Web Arayüzü
(HTML/JS)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463040"/>
            <a:ext cx="201168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1463040"/>
            <a:ext cx="201168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20439" y="1554480"/>
            <a:ext cx="457200" cy="4572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39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1214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
Crawler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34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BS4 + 
Cloudflare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A3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463040"/>
            <a:ext cx="201168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0" y="1463040"/>
            <a:ext cx="201168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97879" y="1554480"/>
            <a:ext cx="457200" cy="4572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97879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1214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Feature
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2834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URL (20 öz.)
NLP (11 öz.)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80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1463040"/>
            <a:ext cx="201168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8079" y="1463040"/>
            <a:ext cx="201168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75319" y="1554480"/>
            <a:ext cx="457200" cy="45720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21214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ML
Modeli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2834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Random Forest
%88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834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45A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19" y="1463040"/>
            <a:ext cx="201168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75519" y="1463040"/>
            <a:ext cx="20116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652759" y="1554480"/>
            <a:ext cx="457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52759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12140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API
Yanıtı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59" y="28346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FastAPI
JSON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4343400"/>
            <a:ext cx="9144000" cy="16459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371600" y="434340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5448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📊  Örnek API Çıktısı: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48463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A3"/>
                </a:solidFill>
                <a:latin typeface="Calibri"/>
              </a:rPr>
              <a:t>{ "label": "PHISHING",  "risk_score": 90,  "confidence": 0.95,  "suspicious_features": ["typosquatting", "urgency_high"]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VERİ MODELİ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ER / Class Diyagramı — Temel Varlıklar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47472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4747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D4FF"/>
                </a:solidFill>
                <a:latin typeface="Calibri"/>
              </a:rPr>
              <a:t>«class»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1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URLRequest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48255"/>
            <a:ext cx="32004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1488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url: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7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timestamp: 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user_agent: string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280160"/>
            <a:ext cx="347472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280160"/>
            <a:ext cx="347472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137160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FFA3"/>
                </a:solidFill>
                <a:latin typeface="Calibri"/>
              </a:rPr>
              <a:t>«class»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27631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WebCrawler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048255"/>
            <a:ext cx="3200400" cy="2743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21488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fetch_content(url)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46887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cloudflare_render(url)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78892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fallback_bs4(url)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1089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- html: string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4290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- page_text: string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280160"/>
            <a:ext cx="347472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1280160"/>
            <a:ext cx="347472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137160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800"/>
                </a:solidFill>
                <a:latin typeface="Calibri"/>
              </a:rPr>
              <a:t>«class»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627631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URLFeatures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2048255"/>
            <a:ext cx="3200400" cy="2743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21488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url_length: 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46887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has_ip: bool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78892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entropy: 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1089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is_shortened: 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4290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https_in_domain: bool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7490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dash_count: 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77639"/>
            <a:ext cx="347472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3977639"/>
            <a:ext cx="347472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069079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45A"/>
                </a:solidFill>
                <a:latin typeface="Calibri"/>
              </a:rPr>
              <a:t>«class»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25112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TextFeatures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745736"/>
            <a:ext cx="3200400" cy="27432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84632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phishing_score: float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16635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urgency_score: float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48639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panic_score: float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064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typo_ratio: float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12647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form_count: 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3977639"/>
            <a:ext cx="347472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06240" y="3977639"/>
            <a:ext cx="34747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97680" y="4069079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D4FF"/>
                </a:solidFill>
                <a:latin typeface="Calibri"/>
              </a:rPr>
              <a:t>«class»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325112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MLModel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4745736"/>
            <a:ext cx="32004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43400" y="484632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predict(features)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516635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rf_model: RandomForest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548639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label: string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58064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confidence: float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3977639"/>
            <a:ext cx="3474720" cy="25603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046720" y="3977639"/>
            <a:ext cx="347472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138160" y="4069079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FFA3"/>
                </a:solidFill>
                <a:latin typeface="Calibri"/>
              </a:rPr>
              <a:t>«class»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325112"/>
            <a:ext cx="3291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AnalysisResult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80" y="4745736"/>
            <a:ext cx="3200400" cy="2743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183880" y="484632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risk_score: 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516635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risk_level: string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80" y="548639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suspicious_features: list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80" y="5806439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+ warning_msg: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0"/>
            <a:ext cx="12185778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B19558F-1506-2EF5-BF0B-BE280309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24"/>
          <a:stretch>
            <a:fillRect/>
          </a:stretch>
        </p:blipFill>
        <p:spPr>
          <a:xfrm>
            <a:off x="20" y="1282"/>
            <a:ext cx="12188805" cy="669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2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KISITLAR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FFFFF"/>
                </a:solidFill>
                <a:latin typeface="Calibri"/>
              </a:rPr>
              <a:t>Kısıtlar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&amp;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Riskler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24688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800"/>
                </a:solidFill>
                <a:latin typeface="Calibri"/>
              </a:rPr>
              <a:t>⏱  Zaman Kısıtı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JavaScript render eden siteler 3-8 sn gecikme yaratabilir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Cloudflare API çağrısı ek latency ekler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638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Çözüm: Timeout (30sn) + async yapı ile yönetildi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303520" cy="24688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0352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5087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🔒  Etik / Yasal Kısıt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2996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Kullanıcı URL'leri loglanmaz (KVKK uyumu)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9689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Üçüncü taraf sitelerin içeriği yalnızca analiz için işlenir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638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Cloudflare API kullanım şartlarına uygun entegrasyon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5303520" cy="24688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30352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1605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45A"/>
                </a:solidFill>
                <a:latin typeface="Calibri"/>
              </a:rPr>
              <a:t>⚙️  Teknik Kısıt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817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Cloudflare rate-limit: günlük 100K istek sınırı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486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.pdf, .mp4 gibi binary dosyalar taranmıyor (es geçiliyor)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15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E-ticaret whitelist eksik olursa False Positive riski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5303520" cy="24688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53035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1605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📊  Veri Kısıtı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817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Model 107K URL ile eğitildi; Türkçe phishing verisi az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2486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Zero-day saldırılarda ML güveni düşebilir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815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Kural tabanlı NLP cezaları bu açığı kapatıyor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SRS Taslağı, İzlenebilirlik &amp; Test Planı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71323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Calibri"/>
              </a:rPr>
              <a:t>Yazılım Gereksinim Spesifikasyonu • İzlenebilirlik Matrisi • Kabul Testleri • Change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697480" cy="51663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26974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536192"/>
            <a:ext cx="2496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SRS Taslağı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39572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FR-01: URL analiz 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4436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FR-02: Risk skoru üret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49300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FR-03: Typosquatting tespit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04164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NFR-01: &lt;5sn yanıt süresi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59028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NFR-02: %88+ doğruluk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9272" y="1417320"/>
            <a:ext cx="2697480" cy="51663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19272" y="1417320"/>
            <a:ext cx="269748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536192"/>
            <a:ext cx="2496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  <a:latin typeface="Calibri"/>
              </a:rPr>
              <a:t>İzlenebilirlik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39572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Story → Tasarım → Test eşlemesi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94436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US-01 → url_features.py → TC-01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49300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US-02 → ml_model.py → TC-02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04164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US-03 → text_features.py → TC-03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59028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Tam izlenebilirlik matrisi hazır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1417320"/>
            <a:ext cx="2697480" cy="51663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72784" y="1417320"/>
            <a:ext cx="269748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1536192"/>
            <a:ext cx="2496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  <a:latin typeface="Calibri"/>
              </a:rPr>
              <a:t>Test Planı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39572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TC-01: Google.com → GÜVENLİ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94436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TC-02: paypal.xyz → PHİSHİNG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49300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TC-03: nicrosoft.com → PHİSHİNG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4164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TC-04: trendyol.com → GÜVENLİ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59028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Kabul kriteri: Risk skoru ±5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26296" y="1417320"/>
            <a:ext cx="2697480" cy="516636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26296" y="1417320"/>
            <a:ext cx="269748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36024" y="1536192"/>
            <a:ext cx="2496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5A"/>
                </a:solidFill>
                <a:latin typeface="Calibri"/>
              </a:rPr>
              <a:t>Değişiklik Yönetimi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239572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v1.0: Temel URL analizi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294436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v1.1: Cloudflare API eklendi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349300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v1.2: E-ticaret whitelist eklendi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404164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v1.3: Panik skoru güncellendi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6024" y="4590288"/>
            <a:ext cx="2496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  <a:latin typeface="Calibri"/>
              </a:rPr>
              <a:t>▸  CHANGELOG.md güncellendi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SRS TASLAĞ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Yazılım Gereksinim Spesifikasyonu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303520" cy="53035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3035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⚙️  Fonksiyonel Gereksinimler (FR)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FR-01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3736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URL Analizi: Kullanıcı URL girince sistem 20 URL özelliği çıkarmalıdır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957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FR-02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9572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Risk Skoru: Sistem 0-100 arası risk skoru üretmeli, HIGH/MED/LOW sınıflandırmalı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540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FR-03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5409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Typosquatting: 35+ marka ile benzerlik analizi yapılmalı, %70+ eşiği uyarı vermeli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1246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FR-04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12463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NLP Analizi: Sitedeki Türkçe/İngilizce metin phishing kelime ağırlıklandırması yapılmalı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7083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FR-05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70831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Crawler: JS render eden siteler Cloudflare API ile taranmalı; fallback BS4 olmalı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919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FR-06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29199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API Yanıtı: FastAPI JSON: label, confidence, risk_score, suspicious_features döndürmeli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097280"/>
            <a:ext cx="548640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  <a:latin typeface="Calibri"/>
              </a:rPr>
              <a:t>📐  Fonksiyonel Olmayan Gereksinimler (NFR)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3736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NFR-01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73736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Performans: Normal site analizi 5 saniyenin altında tamamlanmalı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9572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NFR-02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9572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Doğruluk: ML model doğruluğu en az %85 olmalı (mevcut: %88.38)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05409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NFR-03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05409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Güvenilirlik: Cloudflare API hatasında sistem çökmemeli, fallback çalışmalı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12463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NFR-04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712463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Mahremiyet: Kullanıcı URL'leri loglanmamalı; KVKK uyumlu olmalı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70831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NFR-05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370831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Ölçeklenebilirlik: FastAPI asenkron yapısı sayesinde eş zamanlı 50+ istek desteklenmeli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2919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  <a:latin typeface="Calibri"/>
              </a:rPr>
              <a:t>NFR-06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029199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Kullanılabilirlik: Web arayüzü herhangi bir modern tarayıcıda çalışmalı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AE47577-70B3-10E0-E09A-85D836063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3810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3CA30E19-DA65-BB50-D132-684FA8E89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981"/>
          <a:stretch>
            <a:fillRect/>
          </a:stretch>
        </p:blipFill>
        <p:spPr>
          <a:xfrm>
            <a:off x="0" y="3810000"/>
            <a:ext cx="12188825" cy="304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95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1D0744-FAAA-8B1E-ED80-2A5B7C270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361696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E77542D-73C2-A883-B131-2EF64772EC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13"/>
          <a:stretch>
            <a:fillRect/>
          </a:stretch>
        </p:blipFill>
        <p:spPr>
          <a:xfrm>
            <a:off x="0" y="3428999"/>
            <a:ext cx="12188825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8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İZLENEBİLİRLİK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İzlenebilirlik Matrisi — Story → Tasarım →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011680" cy="47548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1847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User 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4016" y="1143000"/>
            <a:ext cx="182880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456" y="121615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Gereksinim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143000"/>
            <a:ext cx="2743200" cy="47548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1" y="1216152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Modül / Tasarım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1143000"/>
            <a:ext cx="2560320" cy="47548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0607" y="1216152"/>
            <a:ext cx="23957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Test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56063" y="1143000"/>
            <a:ext cx="1645920" cy="47548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47503" y="121615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Sonuç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55064"/>
            <a:ext cx="201168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746504"/>
            <a:ext cx="184708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US-01
URL Analiz 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4016" y="1655064"/>
            <a:ext cx="182880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5456" y="1746504"/>
            <a:ext cx="16642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FR-01, NFR-01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1655064"/>
            <a:ext cx="274320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0831" y="1746504"/>
            <a:ext cx="25786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url_features.py
20 özellik çıkarma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9168" y="1655064"/>
            <a:ext cx="256032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50607" y="1746504"/>
            <a:ext cx="23957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TC-01: google.com
→ score: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56063" y="1655064"/>
            <a:ext cx="164592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47503" y="1746504"/>
            <a:ext cx="148132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A3"/>
                </a:solidFill>
                <a:latin typeface="Calibri"/>
              </a:rPr>
              <a:t>✅ GEÇTİ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60320"/>
            <a:ext cx="201168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651760"/>
            <a:ext cx="184708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US-02
Risk Skoru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14016" y="2560320"/>
            <a:ext cx="182880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05456" y="2651760"/>
            <a:ext cx="16642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FR-02, NFR-02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2560320"/>
            <a:ext cx="274320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70831" y="2651760"/>
            <a:ext cx="25786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ml_model.py
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2560320"/>
            <a:ext cx="256032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50607" y="2651760"/>
            <a:ext cx="23957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TC-02: paypal.xyz
→ score: 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56063" y="2560320"/>
            <a:ext cx="164592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47503" y="2651760"/>
            <a:ext cx="148132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A3"/>
                </a:solidFill>
                <a:latin typeface="Calibri"/>
              </a:rPr>
              <a:t>✅ GEÇTİ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465576"/>
            <a:ext cx="201168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3557016"/>
            <a:ext cx="184708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US-03
Typosquatting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4016" y="3465576"/>
            <a:ext cx="182880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05456" y="3557016"/>
            <a:ext cx="16642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FR-03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9392" y="3465576"/>
            <a:ext cx="274320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70831" y="3557016"/>
            <a:ext cx="25786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ml_model.py
35 marka karşılaştır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9168" y="3465576"/>
            <a:ext cx="256032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50607" y="3557016"/>
            <a:ext cx="23957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TC-03: nicrosoft.com
→ score: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56063" y="3465576"/>
            <a:ext cx="164592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47503" y="3557016"/>
            <a:ext cx="148132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A3"/>
                </a:solidFill>
                <a:latin typeface="Calibri"/>
              </a:rPr>
              <a:t>✅ GEÇTİ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370832"/>
            <a:ext cx="201168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4462272"/>
            <a:ext cx="184708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US-04
NLP Analizi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14016" y="4370832"/>
            <a:ext cx="182880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05456" y="4462272"/>
            <a:ext cx="16642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FR-04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79392" y="4370832"/>
            <a:ext cx="274320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70831" y="4462272"/>
            <a:ext cx="25786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text_features.py
TF-IDF + aciliyet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4370832"/>
            <a:ext cx="256032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50607" y="4462272"/>
            <a:ext cx="23957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TC-04: trendyol.com
→ score: 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56063" y="4370832"/>
            <a:ext cx="1645920" cy="868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47503" y="4462272"/>
            <a:ext cx="148132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A3"/>
                </a:solidFill>
                <a:latin typeface="Calibri"/>
              </a:rPr>
              <a:t>✅ GEÇTİ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276088"/>
            <a:ext cx="201168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5367528"/>
            <a:ext cx="184708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US-05
Crawler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14016" y="5276088"/>
            <a:ext cx="182880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505456" y="5367528"/>
            <a:ext cx="16642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FR-05, NFR-03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79392" y="5276088"/>
            <a:ext cx="274320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370831" y="5367528"/>
            <a:ext cx="257860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web_crawler.py
Cloudflare + BS4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9168" y="5276088"/>
            <a:ext cx="256032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50607" y="5367528"/>
            <a:ext cx="2395727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  <a:latin typeface="Calibri"/>
              </a:rPr>
              <a:t>TC-05: cloudflare site
→ fallback çalıştı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56063" y="5276088"/>
            <a:ext cx="1645920" cy="86868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47503" y="5367528"/>
            <a:ext cx="1481328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FA3"/>
                </a:solidFill>
                <a:latin typeface="Calibri"/>
              </a:rPr>
              <a:t>✅ GEÇTİ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377440" cy="50292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 PLANI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Senaryo Testleri &amp; Kabul Kriterleri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640080" cy="41148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197864"/>
            <a:ext cx="5120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6" y="1143000"/>
            <a:ext cx="3657600" cy="41148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1197864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6592" y="1143000"/>
            <a:ext cx="1097280" cy="41148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1197864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Beklenen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0448" y="1143000"/>
            <a:ext cx="1371600" cy="41148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197864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Beklenen Skor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8624" y="1143000"/>
            <a:ext cx="1097280" cy="41148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51775" y="1197864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Sonuç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43000"/>
            <a:ext cx="1280160" cy="411480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197864"/>
            <a:ext cx="11521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Gerçek Skor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600200"/>
            <a:ext cx="6400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1709928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TC-01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" y="1600200"/>
            <a:ext cx="365760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" y="1709928"/>
            <a:ext cx="3547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https://www.google.com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1600200"/>
            <a:ext cx="10972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170992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GÜVENLİ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1600200"/>
            <a:ext cx="137160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34456" y="1709928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1600200"/>
            <a:ext cx="10972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42631" y="170992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FFA3"/>
                </a:solidFill>
                <a:latin typeface="Calibri"/>
              </a:rPr>
              <a:t>✅ GÜVENLİ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600200"/>
            <a:ext cx="128016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76488" y="1709928"/>
            <a:ext cx="1170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95144"/>
            <a:ext cx="64008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2404872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TC-02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" y="2295144"/>
            <a:ext cx="365760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06424" y="2404872"/>
            <a:ext cx="3547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https://www.trendyol.com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2295144"/>
            <a:ext cx="109728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600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GÜVENLİ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70448" y="2295144"/>
            <a:ext cx="137160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404872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78624" y="2295144"/>
            <a:ext cx="109728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42631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FFA3"/>
                </a:solidFill>
                <a:latin typeface="Calibri"/>
              </a:rPr>
              <a:t>✅ GÜVENLİ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295144"/>
            <a:ext cx="128016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76488" y="2404872"/>
            <a:ext cx="1170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990087"/>
            <a:ext cx="6400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9768" y="3099815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TC-03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" y="2990087"/>
            <a:ext cx="365760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06424" y="3099815"/>
            <a:ext cx="3547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http://secure-login-paypal.xyz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6592" y="2990087"/>
            <a:ext cx="10972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00600" y="3099815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PHİSHİNG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0448" y="2990087"/>
            <a:ext cx="137160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3099815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78624" y="2990087"/>
            <a:ext cx="10972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42631" y="3099815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FFA3"/>
                </a:solidFill>
                <a:latin typeface="Calibri"/>
              </a:rPr>
              <a:t>✅ PHİSHİNG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2990087"/>
            <a:ext cx="128016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76488" y="3099815"/>
            <a:ext cx="1170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685031"/>
            <a:ext cx="64008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9768" y="3794759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TC-04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416" y="3685031"/>
            <a:ext cx="365760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06424" y="3794759"/>
            <a:ext cx="3547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https://nicrosoft.com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36592" y="3685031"/>
            <a:ext cx="109728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00600" y="3794759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PHİSHİNG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0448" y="3685031"/>
            <a:ext cx="137160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34456" y="3794759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80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78624" y="3685031"/>
            <a:ext cx="109728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42631" y="3794759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FFA3"/>
                </a:solidFill>
                <a:latin typeface="Calibri"/>
              </a:rPr>
              <a:t>✅ PHİSHİNG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3685031"/>
            <a:ext cx="1280160" cy="6583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76488" y="3794759"/>
            <a:ext cx="1170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379975"/>
            <a:ext cx="6400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9768" y="4489703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TC-05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2416" y="4379975"/>
            <a:ext cx="365760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06424" y="4489703"/>
            <a:ext cx="3547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https://paypa1.com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36592" y="4379975"/>
            <a:ext cx="10972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4489703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PHİSHİNG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70448" y="4379975"/>
            <a:ext cx="137160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934456" y="4489703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78624" y="4379975"/>
            <a:ext cx="109728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42631" y="4489703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FFA3"/>
                </a:solidFill>
                <a:latin typeface="Calibri"/>
              </a:rPr>
              <a:t>✅ PHİSHİNG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4379975"/>
            <a:ext cx="1280160" cy="658368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76488" y="4489703"/>
            <a:ext cx="11704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68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92640" y="1097280"/>
            <a:ext cx="2286000" cy="548640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692640" y="1097280"/>
            <a:ext cx="228600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784080" y="11887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800"/>
                </a:solidFill>
                <a:latin typeface="Calibri"/>
              </a:rPr>
              <a:t>Kabul
Kriterleri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84080" y="1874519"/>
            <a:ext cx="2103120" cy="777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857232" y="196596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A3"/>
                </a:solidFill>
                <a:latin typeface="Calibri"/>
              </a:rPr>
              <a:t>✓  Risk skoru sapması ≤ ±5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84080" y="2752344"/>
            <a:ext cx="2103120" cy="777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57232" y="2843784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A3"/>
                </a:solidFill>
                <a:latin typeface="Calibri"/>
              </a:rPr>
              <a:t>✓  Doğruluk ≥ %85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84080" y="3630168"/>
            <a:ext cx="2103120" cy="777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857232" y="3721607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A3"/>
                </a:solidFill>
                <a:latin typeface="Calibri"/>
              </a:rPr>
              <a:t>✓  Yanıt süresi &lt; 5sn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84080" y="4507992"/>
            <a:ext cx="2103120" cy="777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857232" y="4599431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A3"/>
                </a:solidFill>
                <a:latin typeface="Calibri"/>
              </a:rPr>
              <a:t>✓  False Positive
oran ≤ %10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5385816"/>
            <a:ext cx="2103120" cy="777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857232" y="5477255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A3"/>
                </a:solidFill>
                <a:latin typeface="Calibri"/>
              </a:rPr>
              <a:t>✓  Tüm TC'ler
geçmeli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2743200" cy="5029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DEĞİŞİKLİK YÖNETİMİ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Change Log &amp; Sürüm Notları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53035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7432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64008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07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316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Temel Sistem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URL feature extraction (20 özellik)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Random Forest modeli entegrasyonu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FastAPI temel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BeautifulSoup crawler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79" y="1188720"/>
            <a:ext cx="2743200" cy="53035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1188720"/>
            <a:ext cx="2743200" cy="6400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1298448"/>
            <a:ext cx="640080" cy="34747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307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316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00"/>
                </a:solidFill>
                <a:latin typeface="Calibri"/>
              </a:rPr>
              <a:t>Cloudflare Entegrasyonu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178308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Cloudflare Browser Rendering API eklendi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237744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JS render desteği sağlandı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2971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Try-Except fallback sistemi kuruldu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356616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Bot korumalı sitelerde başarı arttı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188720"/>
            <a:ext cx="2743200" cy="53035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1188720"/>
            <a:ext cx="274320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92240" y="1298448"/>
            <a:ext cx="640080" cy="34747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307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v1.2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316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Calibri"/>
              </a:rPr>
              <a:t>NLP İyileştirmeleri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78308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E-ticaret whitelist eklendi (Trendyol FP önleme)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37744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Türkçe phishing sözlüğü genişletildi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971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Panik skoru agresif noktalamaya güncellendi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56616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Banka/marka yazım hatası sözlüğü eklendi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1188720"/>
            <a:ext cx="2743200" cy="5303520"/>
          </a:xfrm>
          <a:prstGeom prst="rect">
            <a:avLst/>
          </a:prstGeom>
          <a:solidFill>
            <a:srgbClr val="16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18320" y="1188720"/>
            <a:ext cx="2743200" cy="64008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09760" y="1298448"/>
            <a:ext cx="640080" cy="347472"/>
          </a:xfrm>
          <a:prstGeom prst="rect">
            <a:avLst/>
          </a:prstGeom>
          <a:solidFill>
            <a:srgbClr val="FF4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0" y="1307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v1.3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1316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45A"/>
                </a:solidFill>
                <a:latin typeface="Calibri"/>
              </a:rPr>
              <a:t>Model &amp; Özellik Güncellemeleri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178308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url_entropy özelliği eklendi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37744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is_shortened (bit.ly tespiti) eklendi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2971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https_in_domain tuzak tespiti eklendi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56616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▸  has_double_extension kontrolü eklendi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1451</Words>
  <Application>Microsoft Office PowerPoint</Application>
  <PresentationFormat>Özel</PresentationFormat>
  <Paragraphs>293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zelal ergin</cp:lastModifiedBy>
  <cp:revision>3</cp:revision>
  <dcterms:created xsi:type="dcterms:W3CDTF">2013-01-27T09:14:16Z</dcterms:created>
  <dcterms:modified xsi:type="dcterms:W3CDTF">2026-05-06T22:04:40Z</dcterms:modified>
  <cp:category/>
</cp:coreProperties>
</file>