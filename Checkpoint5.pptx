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35E-4FBD-A2AC-1E0DA806AA02}"/>
              </c:ext>
            </c:extLst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5E-4FBD-A2AC-1E0DA806AA02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5E-4FBD-A2AC-1E0DA806AA0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SVM</c:v>
                </c:pt>
                <c:pt idx="2">
                  <c:v>Random
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76.319999999999993</c:v>
                </c:pt>
                <c:pt idx="1">
                  <c:v>81.5</c:v>
                </c:pt>
                <c:pt idx="2">
                  <c:v>88.77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5E-4FBD-A2AC-1E0DA806AA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268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1042416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676656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4334256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0496" y="4059936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2688336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17536" y="2231136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310896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4700016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502920"/>
            <a:ext cx="2011680" cy="2011680"/>
          </a:xfrm>
          <a:prstGeom prst="ellipse">
            <a:avLst/>
          </a:prstGeom>
          <a:solidFill>
            <a:srgbClr val="0077A8">
              <a:alpha val="30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64008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🛡️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274320" y="26060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PHISHGUARD AI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Destekli Phishing Tespit ve Risk Analizi Sistemi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3749040"/>
            <a:ext cx="274320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5 — DEMO &amp; AKADEMİK ÇIKTI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Zelal Ergin  •  Meryem Tekeli  •  Mehmet Polat Maç  •  M. Kayra Doğan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445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Fırat Üniversitesi — Yazılım Mühendisliği  | 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ÇALIŞAN DEMO — MVP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 — Sistemin uçtan uca çalışır hali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965960" cy="2560320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1752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23160" y="914400"/>
            <a:ext cx="1965960" cy="256032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14400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96312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96312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URL + 11 NLP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1965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914400"/>
            <a:ext cx="1965960" cy="2560320"/>
          </a:xfrm>
          <a:prstGeom prst="rect">
            <a:avLst/>
          </a:prstGeom>
          <a:solidFill>
            <a:srgbClr val="0D1B3E"/>
          </a:solidFill>
          <a:ln w="19050">
            <a:solidFill>
              <a:srgbClr val="8B5CF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914400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90872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0872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%88.7 F1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1965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12280" y="914400"/>
            <a:ext cx="1965960" cy="2560320"/>
          </a:xfrm>
          <a:prstGeom prst="rect">
            <a:avLst/>
          </a:prstGeom>
          <a:solidFill>
            <a:srgbClr val="0D1B3E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91440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85432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Analizi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85432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Skor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Arayüzü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3611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 TEST SONUÇLARI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3931920"/>
            <a:ext cx="4251960" cy="402336"/>
          </a:xfrm>
          <a:prstGeom prst="rect">
            <a:avLst/>
          </a:prstGeom>
          <a:solidFill>
            <a:srgbClr val="0711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9776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https://www.google.com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26080" y="39776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3977640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90872" y="3931920"/>
            <a:ext cx="4251960" cy="402336"/>
          </a:xfrm>
          <a:prstGeom prst="rect">
            <a:avLst/>
          </a:prstGeom>
          <a:solidFill>
            <a:srgbClr val="071128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39776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http://secure-login-paypal.xyz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88352" y="39776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PHİSHİNG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85632" y="3977640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95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4407408"/>
            <a:ext cx="4251960" cy="402336"/>
          </a:xfrm>
          <a:prstGeom prst="rect">
            <a:avLst/>
          </a:prstGeom>
          <a:solidFill>
            <a:srgbClr val="071128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4531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https://nicrosoft.com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26080" y="44531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PHİSHİNG (Marka Taklidi)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23360" y="445312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80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90872" y="4407408"/>
            <a:ext cx="4251960" cy="402336"/>
          </a:xfrm>
          <a:prstGeom prst="rect">
            <a:avLst/>
          </a:prstGeom>
          <a:solidFill>
            <a:srgbClr val="0711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44531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https://www.trendyol.com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88352" y="44531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85632" y="445312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SİSTEM ÖZELLİKLERİ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AI'ın rakiplerinden farkı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51960" cy="1298448"/>
          </a:xfrm>
          <a:prstGeom prst="rect">
            <a:avLst/>
          </a:prstGeom>
          <a:solidFill>
            <a:srgbClr val="0D1B3E"/>
          </a:solidFill>
          <a:ln w="19050">
            <a:solidFill>
              <a:srgbClr val="8B5CF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54864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024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 Tespiti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1732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bilinen marka ile benzerlik analizi. nicrosoft.com, paypa1.com gibi sahte domainleri tespit eder.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914400"/>
            <a:ext cx="4251960" cy="1298448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914400"/>
            <a:ext cx="54864" cy="12984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85232" y="1024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NLP Analizi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41732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metninde phishing kelimeleri, aciliyet ifadeleri, panik tonu ve yazım hatası oranı analiz edilir.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4251960" cy="1298448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31720"/>
            <a:ext cx="54864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2441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API Entegrasyonu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283464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render eden siteler için Cloudflare Browser Rendering API. BeautifulSoup'a otomatik fallback.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90872" y="2331720"/>
            <a:ext cx="4251960" cy="1298448"/>
          </a:xfrm>
          <a:prstGeom prst="rect">
            <a:avLst/>
          </a:prstGeom>
          <a:solidFill>
            <a:srgbClr val="0D1B3E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331720"/>
            <a:ext cx="54864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85232" y="2441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Kısaltılmış Link Tespiti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83464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bit.ly, tinyurl, t.co gibi 8 farklı servis. Gizlenmiş phishing saldırılarını yakalar.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749040"/>
            <a:ext cx="4251960" cy="1298448"/>
          </a:xfrm>
          <a:prstGeom prst="rect">
            <a:avLst/>
          </a:prstGeom>
          <a:solidFill>
            <a:srgbClr val="0D1B3E"/>
          </a:solidFill>
          <a:ln w="190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749040"/>
            <a:ext cx="54864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" y="3858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Scoring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425196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 + kural tabanlı NLP skoru birleştirilerek 0-100 arası tutarlı risk skoru üretilir.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90872" y="3749040"/>
            <a:ext cx="4251960" cy="1298448"/>
          </a:xfrm>
          <a:prstGeom prst="rect">
            <a:avLst/>
          </a:prstGeom>
          <a:solidFill>
            <a:srgbClr val="0D1B3E"/>
          </a:solidFill>
          <a:ln w="19050">
            <a:solidFill>
              <a:srgbClr val="EC489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3749040"/>
            <a:ext cx="54864" cy="12984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85232" y="3858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 Whitelist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25196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alışveriş sitelerini yanlış işaretlememek için akıllı kelime whitelist mekanizması.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KANIT &amp; METRİK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sonuçları ve model performansı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96596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88.38%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075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seti doğruluğu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914400"/>
            <a:ext cx="196596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914400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88.77%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23160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075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 skoru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196596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8B5CF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14400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91.23%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17720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075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alarm oranı düşük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914400"/>
            <a:ext cx="1965960" cy="1828800"/>
          </a:xfrm>
          <a:prstGeom prst="rect">
            <a:avLst/>
          </a:prstGeom>
          <a:solidFill>
            <a:srgbClr val="0D1B3E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91440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107K+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12280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Verisi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2075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URL sayısı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" y="2880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154680"/>
          <a:ext cx="4114800" cy="1691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Gerçek \ Tahmin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PHİSHİNG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LEGİTİMATE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</a:rPr>
                        <a:t>PHİSHİNG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3798 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702 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</a:rPr>
                        <a:t>LEGİTİMATE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365 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4135 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663440" y="288036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KARŞILAŞTIRMASI</a:t>
            </a:r>
            <a:endParaRPr lang="en-US" sz="10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4663440" y="3154680"/>
          <a:ext cx="42519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  AKADEMİK PAKET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sayfalık özet + poster / mini rapor taslağı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51960" cy="406908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42519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5097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MAKALE ÖZETİ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56362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saldırıları geleneksel antivirüs listelerine dayalı sistemlerle tespit edilememektedir. Henüz tanınmamış saldırılar büyük tehlike oluşturmaktadır.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3977640" cy="0"/>
          </a:xfrm>
          <a:prstGeom prst="line">
            <a:avLst/>
          </a:prstGeom>
          <a:noFill/>
          <a:ln w="3810">
            <a:solidFill>
              <a:srgbClr val="0077A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47802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yapısal analizi (20 özellik), TF-IDF tabanlı NLP (11 özellik), typosquatting tespiti ve Random Forest sınıflandırıcısı birleştirilerek hibrit bir sistem oluşturulmuştur.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3977640" cy="0"/>
          </a:xfrm>
          <a:prstGeom prst="line">
            <a:avLst/>
          </a:prstGeom>
          <a:noFill/>
          <a:ln w="3810">
            <a:solidFill>
              <a:srgbClr val="0077A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0040" y="315468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39242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Kaggle'dan elde edilen 107.000+ gerçek URL içeren birleşik veri seti. Phishing ve legitimate sınıfları dengeli olarak örneklenmiştir.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023360"/>
            <a:ext cx="3977640" cy="0"/>
          </a:xfrm>
          <a:prstGeom prst="line">
            <a:avLst/>
          </a:prstGeom>
          <a:noFill/>
          <a:ln w="3810">
            <a:solidFill>
              <a:srgbClr val="0077A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20040" y="406908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30682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%88.38 Accuracy, %88.77 F1 Score. False positive oranı %8.11 olarak ölçülmüştür. Sistem saniyeler içinde sonuç üretmektedir.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251960" cy="4069080"/>
          </a:xfrm>
          <a:prstGeom prst="rect">
            <a:avLst/>
          </a:prstGeom>
          <a:solidFill>
            <a:srgbClr val="0D1B3E"/>
          </a:solidFill>
          <a:ln w="19050">
            <a:solidFill>
              <a:srgbClr val="8B5CF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14400"/>
            <a:ext cx="42519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5097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POSTER / MİNİ RAPOR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3898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928" y="13898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Adı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38928" y="15819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AI — Yapay Zeka Destekli Phishing Tespit Sistemi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938528"/>
            <a:ext cx="4069080" cy="0"/>
          </a:xfrm>
          <a:prstGeom prst="line">
            <a:avLst/>
          </a:prstGeom>
          <a:noFill/>
          <a:ln w="3810">
            <a:solidFill>
              <a:srgbClr val="1E1B4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54880" y="19933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8928" y="1993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38928" y="218541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Zelal Ergin, Meryem Tekeli, Mehmet Polat Maç, M. Kayra Doğan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542032"/>
            <a:ext cx="4069080" cy="0"/>
          </a:xfrm>
          <a:prstGeom prst="line">
            <a:avLst/>
          </a:prstGeom>
          <a:noFill/>
          <a:ln w="3810">
            <a:solidFill>
              <a:srgbClr val="1E1B4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754880" y="259689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38928" y="25968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38928" y="27889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TF-IDF, Shannon Entropy, SequenceMatcher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145536"/>
            <a:ext cx="4069080" cy="0"/>
          </a:xfrm>
          <a:prstGeom prst="line">
            <a:avLst/>
          </a:prstGeom>
          <a:noFill/>
          <a:ln w="3810">
            <a:solidFill>
              <a:srgbClr val="1E1B4B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754880" y="320040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38928" y="32004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38928" y="339242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%88.38 | F1: %88.77 | Dataset: 107K URL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749040"/>
            <a:ext cx="4069080" cy="0"/>
          </a:xfrm>
          <a:prstGeom prst="line">
            <a:avLst/>
          </a:prstGeom>
          <a:noFill/>
          <a:ln w="3810">
            <a:solidFill>
              <a:srgbClr val="1E1B4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754880" y="380390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38928" y="38039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38928" y="399592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scikit-learn, BeautifulSoup, Cloudflare API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4352544"/>
            <a:ext cx="4069080" cy="0"/>
          </a:xfrm>
          <a:prstGeom prst="line">
            <a:avLst/>
          </a:prstGeom>
          <a:noFill/>
          <a:ln w="3810">
            <a:solidFill>
              <a:srgbClr val="1E1B4B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754880" y="440740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38928" y="44074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38928" y="45994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github.com/ygagrup13/AI-Phishing-Detection-Risk-Analysis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 DEMO AKIŞI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sırasında gösterilecek adımlar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78992"/>
            <a:ext cx="47548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7899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0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24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53312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Başlatma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53312" y="131673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Terminalde py api.py komutu çalıştırılır. Tarayıcıda 127.0.0.1:8000 açılır.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0" y="11612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764792"/>
            <a:ext cx="86868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764792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929384"/>
            <a:ext cx="47548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2938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0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18745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53312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Site Testi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53312" y="216712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https://www.google.com analiz edilir. Risk: 8, GÜVENLİ sonucu gösterilir.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615184"/>
            <a:ext cx="86868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615184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779776"/>
            <a:ext cx="47548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77977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0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27249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53312" y="2724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Site Testi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53312" y="301752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http://secure-login-paypal.xyz analiz edilir. Risk: 95, PHİSHİNG, şüpheli özellikler gösterilir.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0" y="28620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3465576"/>
            <a:ext cx="86868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8B5CF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465576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630168"/>
            <a:ext cx="475488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63016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0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35753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353312" y="35753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 Testi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53312" y="386791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https://nicrosoft.com analiz edilir. Marka taklidi uyarısı gösterilir.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0" y="37124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4315968"/>
            <a:ext cx="86868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4315968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4480560"/>
            <a:ext cx="47548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48056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0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4400" y="442569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353312" y="4425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JSON Çıktısı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353312" y="471830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arayüzünde /analyze endpoint test edilir. JSON formatında sonuç gösterilir.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0" y="45628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Ekran Gösterisi (16:9)</PresentationFormat>
  <Paragraphs>148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Meryem Tekeli</cp:lastModifiedBy>
  <cp:revision>2</cp:revision>
  <dcterms:created xsi:type="dcterms:W3CDTF">2026-05-07T21:41:10Z</dcterms:created>
  <dcterms:modified xsi:type="dcterms:W3CDTF">2026-05-20T06:36:10Z</dcterms:modified>
</cp:coreProperties>
</file>