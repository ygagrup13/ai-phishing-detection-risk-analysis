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370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640080"/>
            <a:ext cx="1371600" cy="1371600"/>
          </a:xfrm>
          <a:prstGeom prst="ellipse">
            <a:avLst/>
          </a:prstGeom>
          <a:solidFill>
            <a:srgbClr val="0077A8">
              <a:alpha val="7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86200" y="7772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TABANLI PHİSHİNG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TESPİTİ VE RİSK ANALİZİ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Checkpoint-2 — Backlog, User Story &amp; Kabul Kriterleri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Zelal Ergin  •  Meryem Tekeli  •  Mehmet Polat Maç  •  M. Kayra Doğan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65176"/>
            <a:ext cx="875080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</a:t>
            </a:r>
            <a:r>
              <a:rPr lang="en-US" sz="52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SPRINT</a:t>
            </a:r>
            <a:r>
              <a:rPr lang="tr-TR" sz="52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52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BACKLOG</a:t>
            </a:r>
            <a:endParaRPr lang="en-US" sz="5200" i="1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005840"/>
            <a:ext cx="2084832" cy="393192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7" name="Shape 5"/>
          <p:cNvSpPr/>
          <p:nvPr/>
        </p:nvSpPr>
        <p:spPr>
          <a:xfrm>
            <a:off x="164592" y="1005840"/>
            <a:ext cx="2084832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" y="1069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🕷️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" y="1097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Crawler</a:t>
            </a:r>
            <a:endParaRPr lang="en-US" sz="1600" i="1" dirty="0"/>
          </a:p>
        </p:txBody>
      </p:sp>
      <p:sp>
        <p:nvSpPr>
          <p:cNvPr id="11" name="Text 9"/>
          <p:cNvSpPr/>
          <p:nvPr/>
        </p:nvSpPr>
        <p:spPr>
          <a:xfrm>
            <a:off x="256032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 Polat Maç</a:t>
            </a:r>
            <a:endParaRPr lang="en-US" sz="1500" b="1" dirty="0"/>
          </a:p>
        </p:txBody>
      </p:sp>
      <p:sp>
        <p:nvSpPr>
          <p:cNvPr id="12" name="Shape 10"/>
          <p:cNvSpPr/>
          <p:nvPr/>
        </p:nvSpPr>
        <p:spPr>
          <a:xfrm>
            <a:off x="256032" y="2029968"/>
            <a:ext cx="1901952" cy="0"/>
          </a:xfrm>
          <a:prstGeom prst="line">
            <a:avLst/>
          </a:prstGeom>
          <a:noFill/>
          <a:ln w="6350">
            <a:solidFill>
              <a:srgbClr val="00C896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56032" y="2103120"/>
            <a:ext cx="1920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Kullanıcıdan URL alma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 ve alt sayfaları tarama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HTML içeriğini çekme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Sayfa metinlerini çıkarma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Makale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77440" y="1005840"/>
            <a:ext cx="2084832" cy="3931920"/>
          </a:xfrm>
          <a:prstGeom prst="rect">
            <a:avLst/>
          </a:prstGeom>
          <a:solidFill>
            <a:srgbClr val="112240"/>
          </a:solidFill>
          <a:ln w="19050">
            <a:solidFill>
              <a:srgbClr val="FFD16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5" name="Shape 13"/>
          <p:cNvSpPr/>
          <p:nvPr/>
        </p:nvSpPr>
        <p:spPr>
          <a:xfrm>
            <a:off x="2377440" y="1005840"/>
            <a:ext cx="208483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1069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88920" y="1097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77440" y="1417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Feature Extraction</a:t>
            </a:r>
            <a:endParaRPr lang="en-US" sz="1600" i="1" dirty="0"/>
          </a:p>
        </p:txBody>
      </p:sp>
      <p:sp>
        <p:nvSpPr>
          <p:cNvPr id="19" name="Text 17"/>
          <p:cNvSpPr/>
          <p:nvPr/>
        </p:nvSpPr>
        <p:spPr>
          <a:xfrm>
            <a:off x="2468880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Zelal Ergin</a:t>
            </a:r>
            <a:endParaRPr lang="en-US" sz="1500" b="1" dirty="0"/>
          </a:p>
        </p:txBody>
      </p:sp>
      <p:sp>
        <p:nvSpPr>
          <p:cNvPr id="20" name="Shape 18"/>
          <p:cNvSpPr/>
          <p:nvPr/>
        </p:nvSpPr>
        <p:spPr>
          <a:xfrm>
            <a:off x="2468880" y="2029968"/>
            <a:ext cx="1901952" cy="0"/>
          </a:xfrm>
          <a:prstGeom prst="line">
            <a:avLst/>
          </a:prstGeom>
          <a:noFill/>
          <a:ln w="6350">
            <a:solidFill>
              <a:srgbClr val="FFD16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468880" y="2103120"/>
            <a:ext cx="1920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URL'den 20 özellik çıkarma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tldextract ile domain analizi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Entropi &amp; kısaltma tespiti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Şüpheli kelime kontrolü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Test dosyası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90288" y="1005840"/>
            <a:ext cx="2084832" cy="3931920"/>
          </a:xfrm>
          <a:prstGeom prst="rect">
            <a:avLst/>
          </a:prstGeom>
          <a:solidFill>
            <a:srgbClr val="112240"/>
          </a:solidFill>
          <a:ln w="19050">
            <a:solidFill>
              <a:srgbClr val="EF47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1005840"/>
            <a:ext cx="2084832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069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01768" y="1097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81728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Analysis (NLP)</a:t>
            </a:r>
            <a:endParaRPr lang="en-US" sz="1600" i="1" dirty="0"/>
          </a:p>
        </p:txBody>
      </p:sp>
      <p:sp>
        <p:nvSpPr>
          <p:cNvPr id="27" name="Text 25"/>
          <p:cNvSpPr/>
          <p:nvPr/>
        </p:nvSpPr>
        <p:spPr>
          <a:xfrm>
            <a:off x="4681728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Kayra Doğan</a:t>
            </a:r>
            <a:endParaRPr lang="en-US" sz="1500" b="1" dirty="0"/>
          </a:p>
        </p:txBody>
      </p:sp>
      <p:sp>
        <p:nvSpPr>
          <p:cNvPr id="28" name="Shape 26"/>
          <p:cNvSpPr/>
          <p:nvPr/>
        </p:nvSpPr>
        <p:spPr>
          <a:xfrm>
            <a:off x="4681728" y="2029968"/>
            <a:ext cx="1901952" cy="0"/>
          </a:xfrm>
          <a:prstGeom prst="line">
            <a:avLst/>
          </a:prstGeom>
          <a:noFill/>
          <a:ln w="6350">
            <a:solidFill>
              <a:srgbClr val="EF476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681728" y="2103120"/>
            <a:ext cx="1920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Sayfa metnini analiz etme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Phishing kelimelerini tespit etme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TF-IDF feature çıkarma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HTML feature extraction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Makale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803136" y="1005840"/>
            <a:ext cx="2084832" cy="3931920"/>
          </a:xfrm>
          <a:prstGeom prst="rect">
            <a:avLst/>
          </a:prstGeom>
          <a:solidFill>
            <a:srgbClr val="112240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31" name="Shape 29"/>
          <p:cNvSpPr/>
          <p:nvPr/>
        </p:nvSpPr>
        <p:spPr>
          <a:xfrm>
            <a:off x="6803136" y="1005840"/>
            <a:ext cx="2084832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1069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14616" y="10972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03136" y="141732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+ Risk Score</a:t>
            </a:r>
            <a:endParaRPr lang="en-US" sz="1600" i="1" dirty="0"/>
          </a:p>
        </p:txBody>
      </p:sp>
      <p:sp>
        <p:nvSpPr>
          <p:cNvPr id="35" name="Text 33"/>
          <p:cNvSpPr/>
          <p:nvPr/>
        </p:nvSpPr>
        <p:spPr>
          <a:xfrm>
            <a:off x="6894576" y="17373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Meryem Tekeli</a:t>
            </a:r>
            <a:endParaRPr lang="en-US" sz="1500" b="1" dirty="0"/>
          </a:p>
        </p:txBody>
      </p:sp>
      <p:sp>
        <p:nvSpPr>
          <p:cNvPr id="36" name="Shape 34"/>
          <p:cNvSpPr/>
          <p:nvPr/>
        </p:nvSpPr>
        <p:spPr>
          <a:xfrm>
            <a:off x="6894576" y="2029968"/>
            <a:ext cx="1901952" cy="0"/>
          </a:xfrm>
          <a:prstGeom prst="line">
            <a:avLst/>
          </a:prstGeom>
          <a:noFill/>
          <a:ln w="6350">
            <a:solidFill>
              <a:srgbClr val="00B4D8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894576" y="2103120"/>
            <a:ext cx="1920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URL + text feature birleştirme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ML modeli kurma ve eğitme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Phishing tahmini yapma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0E6E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0-100 risk skoru hesaplama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6" name="Image 0" descr="/home/claude/user_stor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187" y="-47413"/>
            <a:ext cx="9252373" cy="528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Gereksinim İzlenebilirliği - 1 (URL Analizi &amp; Risk Skoru)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1605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685800"/>
            <a:ext cx="416052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Kullanıcı Hikayesi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6858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Kabul Kriteri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4160520" cy="1810512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15568"/>
            <a:ext cx="64008" cy="18105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207008"/>
            <a:ext cx="65836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2070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Hikayesi: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1527048"/>
            <a:ext cx="39502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kullanıcı olarak, şüpheli gördüğüm bir URL adresini sisteme girmek istiyorum; böylece web sitesinin phishing olup olmadığını öğrenebilirim.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115568"/>
            <a:ext cx="4160520" cy="1810512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115568"/>
            <a:ext cx="64008" cy="18105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8888" y="1207008"/>
            <a:ext cx="658368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2070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 AC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32120" y="12070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Kriteri: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1527048"/>
            <a:ext cx="39502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geçerli URL girdiğinde analiz başlamalı. Geçersiz formatta hata mesajı gösterilmeli. Sonuç 10 saniye içinde dönmeli. Phishing / Güvenli etiketi net gösterilmeli.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8595360" cy="0"/>
          </a:xfrm>
          <a:prstGeom prst="line">
            <a:avLst/>
          </a:prstGeom>
          <a:noFill/>
          <a:ln w="6350">
            <a:solidFill>
              <a:srgbClr val="00B4D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74320" y="3054096"/>
            <a:ext cx="4160520" cy="1810512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054096"/>
            <a:ext cx="64008" cy="18105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145536"/>
            <a:ext cx="658368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14553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31455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Hikayesi: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3465576"/>
            <a:ext cx="39502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kullanıcı olarak, analiz edilen web sitesi için 0-100 arası bir risk/güven skoru görmek istiyorum; böylece sitenin ne kadar güvenli olduğunu sayısal olarak anlayabilirim.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054096"/>
            <a:ext cx="4160520" cy="1810512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054096"/>
            <a:ext cx="64008" cy="18105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3145536"/>
            <a:ext cx="658368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14553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US-02 AC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32120" y="31455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Kriteri: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3465576"/>
            <a:ext cx="39502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0-100 arası tam sayı olarak gösterilmeli. Boş veya hata döndürmemeli. 0-30 Düşük, 31-70 Orta, 71-100 Yüksek Risk olarak etiketlenmeli. Renk kodlu gösterilmeli.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Gereksinim İzlenebilirliği - 2 (Şeffaflık &amp; Özellik Görünümü)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1605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685800"/>
            <a:ext cx="416052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Kullanıcı Hikayesi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6858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Kabul Kriteri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4160520" cy="1810512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15568"/>
            <a:ext cx="64008" cy="18105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207008"/>
            <a:ext cx="658368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2070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Hikayesi: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1527048"/>
            <a:ext cx="39502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kullanıcı olarak, sistemin neden bir siteyi şüpheli olarak işaretlediğini görmek istiyorum; böylece bilinçli bir karar verebilirim.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115568"/>
            <a:ext cx="4160520" cy="1810512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115568"/>
            <a:ext cx="64008" cy="18105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8888" y="1207008"/>
            <a:ext cx="658368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2070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US-03 AC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32120" y="12070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Kriteri: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1527048"/>
            <a:ext cx="39502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Şüpheli özellikler liste halinde gösterilmeli. En az 1 açıklayıcı sebep sunulmalı. Açıklamalar sade dille yazılmalı. Şüpheli özellik yoksa 'Güvenli görünüyor' mesajı çıkmalı.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8595360" cy="0"/>
          </a:xfrm>
          <a:prstGeom prst="line">
            <a:avLst/>
          </a:prstGeom>
          <a:noFill/>
          <a:ln w="6350">
            <a:solidFill>
              <a:srgbClr val="00B4D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74320" y="3054096"/>
            <a:ext cx="4160520" cy="1810512"/>
          </a:xfrm>
          <a:prstGeom prst="rect">
            <a:avLst/>
          </a:prstGeom>
          <a:solidFill>
            <a:srgbClr val="11224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054096"/>
            <a:ext cx="64008" cy="18105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145536"/>
            <a:ext cx="658368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14553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31455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Hikayesi: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3465576"/>
            <a:ext cx="39502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kullanıcı olarak, sistemin URL yapısı ve sayfa içeriği gibi hangi özellikleri analiz ettiğini görmek istiyorum; böylece sistemin nasıl çalıştığını anlayabilirim.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054096"/>
            <a:ext cx="4160520" cy="1810512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054096"/>
            <a:ext cx="64008" cy="18105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3145536"/>
            <a:ext cx="658368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14553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US-04 AC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32120" y="31455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Kriteri: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3465576"/>
            <a:ext cx="39502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edilen URL feature'ları gösterilmeli. NLP metin skoru ayrıca sunulmalı. En az 5 özellik kullanıcıya görünür olmalı. Her özelliğin değeri açıkça belirtilmeli.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Gereksinim İzlenebilirliği - 3 (Hız &amp; Kısaltılmış Link)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1605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685800"/>
            <a:ext cx="4160520" cy="384048"/>
          </a:xfrm>
          <a:prstGeom prst="rect">
            <a:avLst/>
          </a:prstGeom>
          <a:solidFill>
            <a:srgbClr val="1B4332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Kullanıcı Hikayesi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6858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Kabul Kriteri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4160520" cy="1810512"/>
          </a:xfrm>
          <a:prstGeom prst="rect">
            <a:avLst/>
          </a:prstGeom>
          <a:solidFill>
            <a:srgbClr val="11224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15568"/>
            <a:ext cx="64008" cy="18105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207008"/>
            <a:ext cx="658368" cy="2560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2070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1207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Hikayesi: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1527048"/>
            <a:ext cx="39502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kullanıcı olarak, web sitesi analiz sonucunu birkaç saniye içinde almak istiyorum; böylece zaman kaybetmeden güvenli şekilde internette gezinebilirim.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115568"/>
            <a:ext cx="4160520" cy="1810512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115568"/>
            <a:ext cx="64008" cy="18105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8888" y="1207008"/>
            <a:ext cx="658368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20700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US-05 AC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32120" y="12070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Kriteri: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1527048"/>
            <a:ext cx="39502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URL analizi max 10 saniyede tamamlanmalı. Uzun süren işlemlerde yükleniyor göstergesi sunulmalı. Timeout durumunda anlaşılır hata mesajı verilmeli.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8595360" cy="0"/>
          </a:xfrm>
          <a:prstGeom prst="line">
            <a:avLst/>
          </a:prstGeom>
          <a:noFill/>
          <a:ln w="6350">
            <a:solidFill>
              <a:srgbClr val="00B4D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74320" y="3054096"/>
            <a:ext cx="4160520" cy="1810512"/>
          </a:xfrm>
          <a:prstGeom prst="rect">
            <a:avLst/>
          </a:prstGeom>
          <a:solidFill>
            <a:srgbClr val="112240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054096"/>
            <a:ext cx="64008" cy="18105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145536"/>
            <a:ext cx="658368" cy="2560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14553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31455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Hikayesi: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3465576"/>
            <a:ext cx="39502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kullanıcı olarak, kısaltılmış linklerin (bit.ly vb.) de analiz edilmesini istiyorum; böylece gizlenmiş phishing saldırılarını da tespit edebilirim.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054096"/>
            <a:ext cx="4160520" cy="1810512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054096"/>
            <a:ext cx="64008" cy="18105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3145536"/>
            <a:ext cx="658368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14553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US-06 AC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32120" y="31455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Kriteri: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18888" y="3465576"/>
            <a:ext cx="3950208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bit.ly, tinyurl.com, t.co, goo.gl tespit edilmeli. is_shortened: 1 olarak işaretlenmeli. Risk skoruna yansıtılmalı. Kullanıcıya 'Kısaltılmış link tespit edildi' uyarısı gösterilmeli.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55448"/>
            <a:ext cx="9144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</a:t>
            </a:r>
            <a:r>
              <a:rPr lang="tr-TR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tr-TR" sz="24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FONKSİYONEL OLMAYAN GEREKSİNİMLER (NFR)</a:t>
            </a:r>
            <a:endParaRPr lang="en-US" sz="2400" i="1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 •  Performans  •  Kullanılabilirlik  •  Doğruluk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24128"/>
            <a:ext cx="4251960" cy="1737360"/>
          </a:xfrm>
          <a:prstGeom prst="rect">
            <a:avLst/>
          </a:prstGeom>
          <a:solidFill>
            <a:srgbClr val="112240"/>
          </a:solidFill>
          <a:ln w="19050">
            <a:solidFill>
              <a:srgbClr val="FFD16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24128"/>
            <a:ext cx="42519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3385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11612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499616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 Garantisi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182880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URL analizi maksimum 10 saniye sürmeli. Crawler + feature extraction + ML tahmin zinciri toplam 10sn altında tamamlanmalı.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024128"/>
            <a:ext cx="4251960" cy="1737360"/>
          </a:xfrm>
          <a:prstGeom prst="rect">
            <a:avLst/>
          </a:prstGeom>
          <a:solidFill>
            <a:srgbClr val="112240"/>
          </a:solidFill>
          <a:ln w="19050">
            <a:solidFill>
              <a:srgbClr val="EF476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24128"/>
            <a:ext cx="425196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3385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12080" y="11612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1499616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Yönetimi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18888" y="182880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hataları, timeout, bağlantı hataları sistemin çökmesine neden olmamalı. Her katmanda try/except ile yakalanmalı.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944368"/>
            <a:ext cx="4251960" cy="1737360"/>
          </a:xfrm>
          <a:prstGeom prst="rect">
            <a:avLst/>
          </a:prstGeom>
          <a:solidFill>
            <a:srgbClr val="112240"/>
          </a:solidFill>
          <a:ln w="19050">
            <a:solidFill>
              <a:srgbClr val="00C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944368"/>
            <a:ext cx="4251960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5409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" y="30815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KULLANILABİLİRLİK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" y="3419856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Arayüz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" y="374904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yalnızca URL girerek sonucu alabilmeli. Risk düzeyi Düşük / Orta / Yüksek olarak açıkça gösterilmeli.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944368"/>
            <a:ext cx="4251960" cy="1737360"/>
          </a:xfrm>
          <a:prstGeom prst="rect">
            <a:avLst/>
          </a:prstGeom>
          <a:solidFill>
            <a:srgbClr val="112240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44368"/>
            <a:ext cx="4251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05409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12080" y="30815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3419856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Kalitesi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18888" y="3749040"/>
            <a:ext cx="39776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 test setinde en az %85 accuracy sağlamalı. False negative oranı %10'u geçmemeli.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3136988-748A-C344-57F8-79FD533E5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07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7A4FA7D1-5841-C0BF-2170-9A1C617F3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79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B58CCA5-2528-CC50-C433-49AFE0172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86" y="0"/>
            <a:ext cx="81754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031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EAA8CA5-8456-54B3-F490-8313264EC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36" y="0"/>
            <a:ext cx="787512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858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81349B7-EFDF-F035-80BF-04AB043D3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83" y="0"/>
            <a:ext cx="734903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39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657</Words>
  <Application>Microsoft Office PowerPoint</Application>
  <PresentationFormat>Ekran Gösterisi (16:9)</PresentationFormat>
  <Paragraphs>111</Paragraphs>
  <Slides>12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Checkpoint-2 - AI Tabanlı Phishing Tespiti</dc:title>
  <dc:subject>PptxGenJS Presentation</dc:subject>
  <dc:creator>PptxGenJS</dc:creator>
  <cp:lastModifiedBy>Meryem Tekeli</cp:lastModifiedBy>
  <cp:revision>6</cp:revision>
  <dcterms:created xsi:type="dcterms:W3CDTF">2026-04-05T19:33:35Z</dcterms:created>
  <dcterms:modified xsi:type="dcterms:W3CDTF">2026-04-09T11:00:52Z</dcterms:modified>
</cp:coreProperties>
</file>